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D07006-1152-460C-A50F-647ED9C85FF3}" v="24" dt="2026-02-04T17:02:27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anshu Saini" userId="5aaa952e9efdbfc9" providerId="LiveId" clId="{D028C20A-4094-4B4A-9F18-12ABEF55BC5D}"/>
    <pc:docChg chg="custSel addSld modSld">
      <pc:chgData name="Himanshu Saini" userId="5aaa952e9efdbfc9" providerId="LiveId" clId="{D028C20A-4094-4B4A-9F18-12ABEF55BC5D}" dt="2026-02-04T17:02:27.017" v="87" actId="1076"/>
      <pc:docMkLst>
        <pc:docMk/>
      </pc:docMkLst>
      <pc:sldChg chg="addSp delSp modSp mod">
        <pc:chgData name="Himanshu Saini" userId="5aaa952e9efdbfc9" providerId="LiveId" clId="{D028C20A-4094-4B4A-9F18-12ABEF55BC5D}" dt="2026-02-04T17:01:41.735" v="80" actId="1076"/>
        <pc:sldMkLst>
          <pc:docMk/>
          <pc:sldMk cId="1609379510" sldId="258"/>
        </pc:sldMkLst>
        <pc:spChg chg="mod">
          <ac:chgData name="Himanshu Saini" userId="5aaa952e9efdbfc9" providerId="LiveId" clId="{D028C20A-4094-4B4A-9F18-12ABEF55BC5D}" dt="2026-02-04T16:59:32.632" v="58" actId="20577"/>
          <ac:spMkLst>
            <pc:docMk/>
            <pc:sldMk cId="1609379510" sldId="258"/>
            <ac:spMk id="2" creationId="{D841C20D-8C53-ABE7-801E-376C1948D879}"/>
          </ac:spMkLst>
        </pc:spChg>
        <pc:spChg chg="mod">
          <ac:chgData name="Himanshu Saini" userId="5aaa952e9efdbfc9" providerId="LiveId" clId="{D028C20A-4094-4B4A-9F18-12ABEF55BC5D}" dt="2026-02-04T17:01:18.295" v="76" actId="20577"/>
          <ac:spMkLst>
            <pc:docMk/>
            <pc:sldMk cId="1609379510" sldId="258"/>
            <ac:spMk id="3" creationId="{5D6773AA-273F-A7C9-CD0F-0D99AE072CDB}"/>
          </ac:spMkLst>
        </pc:spChg>
        <pc:spChg chg="mod">
          <ac:chgData name="Himanshu Saini" userId="5aaa952e9efdbfc9" providerId="LiveId" clId="{D028C20A-4094-4B4A-9F18-12ABEF55BC5D}" dt="2026-02-04T16:59:21.047" v="46" actId="20577"/>
          <ac:spMkLst>
            <pc:docMk/>
            <pc:sldMk cId="1609379510" sldId="258"/>
            <ac:spMk id="4" creationId="{8C93CB9D-52C5-052E-99B0-B2D5AD7D6FAC}"/>
          </ac:spMkLst>
        </pc:spChg>
        <pc:picChg chg="add mod">
          <ac:chgData name="Himanshu Saini" userId="5aaa952e9efdbfc9" providerId="LiveId" clId="{D028C20A-4094-4B4A-9F18-12ABEF55BC5D}" dt="2026-02-04T17:01:02.343" v="74" actId="1076"/>
          <ac:picMkLst>
            <pc:docMk/>
            <pc:sldMk cId="1609379510" sldId="258"/>
            <ac:picMk id="2050" creationId="{514940D0-A136-E637-0699-D89B22A0D6E6}"/>
          </ac:picMkLst>
        </pc:picChg>
        <pc:picChg chg="add mod">
          <ac:chgData name="Himanshu Saini" userId="5aaa952e9efdbfc9" providerId="LiveId" clId="{D028C20A-4094-4B4A-9F18-12ABEF55BC5D}" dt="2026-02-04T17:01:41.735" v="80" actId="1076"/>
          <ac:picMkLst>
            <pc:docMk/>
            <pc:sldMk cId="1609379510" sldId="258"/>
            <ac:picMk id="2052" creationId="{A0119601-9C75-CBC6-B845-43B195C79228}"/>
          </ac:picMkLst>
        </pc:picChg>
        <pc:picChg chg="mod">
          <ac:chgData name="Himanshu Saini" userId="5aaa952e9efdbfc9" providerId="LiveId" clId="{D028C20A-4094-4B4A-9F18-12ABEF55BC5D}" dt="2026-02-04T17:00:03.751" v="66" actId="1076"/>
          <ac:picMkLst>
            <pc:docMk/>
            <pc:sldMk cId="1609379510" sldId="258"/>
            <ac:picMk id="5122" creationId="{094F2042-3DA8-FCF0-2517-87EFAE213C4E}"/>
          </ac:picMkLst>
        </pc:picChg>
        <pc:picChg chg="del mod">
          <ac:chgData name="Himanshu Saini" userId="5aaa952e9efdbfc9" providerId="LiveId" clId="{D028C20A-4094-4B4A-9F18-12ABEF55BC5D}" dt="2026-02-04T16:59:48.569" v="61" actId="478"/>
          <ac:picMkLst>
            <pc:docMk/>
            <pc:sldMk cId="1609379510" sldId="258"/>
            <ac:picMk id="5124" creationId="{BC24522F-6F44-0C79-02E1-A7A4E5A7E18B}"/>
          </ac:picMkLst>
        </pc:picChg>
      </pc:sldChg>
      <pc:sldChg chg="addSp modSp new mod">
        <pc:chgData name="Himanshu Saini" userId="5aaa952e9efdbfc9" providerId="LiveId" clId="{D028C20A-4094-4B4A-9F18-12ABEF55BC5D}" dt="2026-02-04T17:02:27.017" v="87" actId="1076"/>
        <pc:sldMkLst>
          <pc:docMk/>
          <pc:sldMk cId="1902147327" sldId="266"/>
        </pc:sldMkLst>
        <pc:spChg chg="mod">
          <ac:chgData name="Himanshu Saini" userId="5aaa952e9efdbfc9" providerId="LiveId" clId="{D028C20A-4094-4B4A-9F18-12ABEF55BC5D}" dt="2026-02-04T16:58:36.071" v="25" actId="14100"/>
          <ac:spMkLst>
            <pc:docMk/>
            <pc:sldMk cId="1902147327" sldId="266"/>
            <ac:spMk id="2" creationId="{CC60C336-FBC8-5259-BDCE-844E820AE4C8}"/>
          </ac:spMkLst>
        </pc:spChg>
        <pc:spChg chg="mod">
          <ac:chgData name="Himanshu Saini" userId="5aaa952e9efdbfc9" providerId="LiveId" clId="{D028C20A-4094-4B4A-9F18-12ABEF55BC5D}" dt="2026-02-04T16:59:15.976" v="45" actId="1076"/>
          <ac:spMkLst>
            <pc:docMk/>
            <pc:sldMk cId="1902147327" sldId="266"/>
            <ac:spMk id="3" creationId="{87B9EE42-4805-B653-C531-01834FA5E95A}"/>
          </ac:spMkLst>
        </pc:spChg>
        <pc:picChg chg="add mod">
          <ac:chgData name="Himanshu Saini" userId="5aaa952e9efdbfc9" providerId="LiveId" clId="{D028C20A-4094-4B4A-9F18-12ABEF55BC5D}" dt="2026-02-04T17:00:34.583" v="70" actId="1076"/>
          <ac:picMkLst>
            <pc:docMk/>
            <pc:sldMk cId="1902147327" sldId="266"/>
            <ac:picMk id="1026" creationId="{5516108C-A140-52D1-A5E5-CECEBC4F9A3D}"/>
          </ac:picMkLst>
        </pc:picChg>
        <pc:picChg chg="add mod">
          <ac:chgData name="Himanshu Saini" userId="5aaa952e9efdbfc9" providerId="LiveId" clId="{D028C20A-4094-4B4A-9F18-12ABEF55BC5D}" dt="2026-02-04T17:02:07.159" v="83" actId="14100"/>
          <ac:picMkLst>
            <pc:docMk/>
            <pc:sldMk cId="1902147327" sldId="266"/>
            <ac:picMk id="1028" creationId="{A45025DB-383E-0A89-FB4B-DC6BF9F99F4A}"/>
          </ac:picMkLst>
        </pc:picChg>
        <pc:picChg chg="add mod">
          <ac:chgData name="Himanshu Saini" userId="5aaa952e9efdbfc9" providerId="LiveId" clId="{D028C20A-4094-4B4A-9F18-12ABEF55BC5D}" dt="2026-02-04T17:02:27.017" v="87" actId="1076"/>
          <ac:picMkLst>
            <pc:docMk/>
            <pc:sldMk cId="1902147327" sldId="266"/>
            <ac:picMk id="1030" creationId="{154A24E5-D6E1-93C6-B396-D737E186676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6F25-5D03-73F5-50C5-CB336B45F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FCEA7-F5AB-B7D8-02C1-CC5749C39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BC98D-8F12-B856-4F77-4B2BF414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7451-BC01-4628-8A3E-480D26A6091D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1B0F5-3987-EC3C-1492-94F7A42F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B9F39-910B-DE22-689B-03C9E523C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D6D8-2CEF-470B-95BA-060323C2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39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91B9-B180-F329-3F5F-8AB8EB397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90468-17BE-64D1-C43F-6139051C0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302C5-AD4C-9C22-63F3-ABA02D777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7451-BC01-4628-8A3E-480D26A6091D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5898A-ED5E-B9C4-0169-0ECB66DE2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27868-8EBE-4B28-D376-6D6D4C3F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D6D8-2CEF-470B-95BA-060323C2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05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5EDC9-F91B-3CF5-C56B-AFE5A276F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41DBB-F22C-586F-6767-9F933CCA9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776A4-716A-5A35-AFC6-AF68DF856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7451-BC01-4628-8A3E-480D26A6091D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FBBD4-C8C3-1B5B-522F-68A595B2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EE150-2A66-9827-97D5-1DBD31FE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D6D8-2CEF-470B-95BA-060323C2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7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AF85B-7586-9685-DCB3-9A5A93BD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A2432-7581-EC18-70E3-6F4A3E1D3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5546A-B98D-E545-AADB-E5EC3C411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9930D-C719-20DB-7AA0-DA2C24666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7451-BC01-4628-8A3E-480D26A6091D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87E19-3D6C-EBD0-6622-90D1C38F1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C9B5A-CC61-BEC1-AEAD-829BCB8DB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D6D8-2CEF-470B-95BA-060323C2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9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A05D6-0154-5730-6A31-5EED00D5C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B8986-2F31-7C3A-3833-4DB8AE7A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C0BAF-653E-4F21-9C39-7A0666B5A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5B2F2D-4ECA-2F9D-F463-274A3615C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9FA433-04CF-3C31-4D30-F8B6B74F33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7F602A-E63E-80C6-D3E4-22B5126DB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7451-BC01-4628-8A3E-480D26A6091D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3A383-6CC3-16BD-D83D-71EC138F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2BAEA8-9E9C-B988-2639-E5068F54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D6D8-2CEF-470B-95BA-060323C2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28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585D5-1DAB-F7E8-61BE-281B1EA1F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887073-B749-F54C-5BAE-4DD23543D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7451-BC01-4628-8A3E-480D26A6091D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268D4-1C0C-CDBF-6E9C-A886F609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5B8D99-2111-232A-047A-8FCC516F4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D6D8-2CEF-470B-95BA-060323C2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85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3081B2-2018-E050-1829-0E8B96A8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7451-BC01-4628-8A3E-480D26A6091D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475374-A660-C1F1-8F63-475BE201C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B4BE0-80D1-3222-4889-55B7B45BA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D6D8-2CEF-470B-95BA-060323C2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19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266A5-FB11-650A-0378-5E23E5C4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6A95A-27E4-25E3-FB6F-77A08D3B3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866AE-DFFB-8B54-C1A1-1A03F2F12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E17FE-01F6-68AF-32C9-028B1F366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7451-BC01-4628-8A3E-480D26A6091D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19165-0C53-32B7-7EBA-E7E288C86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705F4-621D-2048-7400-AAB1ECD5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D6D8-2CEF-470B-95BA-060323C2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C0C88-44CE-9DCD-15A0-76D73C9D6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5E36BB-B45B-B1B1-BB08-0847E9114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A8506-DAF7-62E9-9329-B62AE025F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12B7E-E579-8BC5-BD4E-71DCB5051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7451-BC01-4628-8A3E-480D26A6091D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FC1B7-2DFA-11B2-B91F-6F7EAC2DF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ABBCA-698F-5AFE-7E78-E3C5219C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D6D8-2CEF-470B-95BA-060323C2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09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1D182-CA81-2DC0-FB00-A78370EE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FEC70-A51F-37DC-2036-366703F57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61FC2-482F-6B1F-A332-7B5433586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7451-BC01-4628-8A3E-480D26A6091D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D608-5F0B-71CB-A821-D1EE9D8E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F3316-B582-DC88-FEAC-EF874DDF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D6D8-2CEF-470B-95BA-060323C2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95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E07D-E005-114F-49FA-B66F246DB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667C5-E6D5-3F9A-CC0B-88061B83C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3B672-A00C-2634-D813-486164AD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7451-BC01-4628-8A3E-480D26A6091D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2C8D3-F153-77E2-1E6B-E3459D34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6CF62-D437-B226-C7C3-135FEAF4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D6D8-2CEF-470B-95BA-060323C2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40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109E3B-99D2-2AB4-D84D-8CCEE3EBB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7F29E-528F-6989-281E-293C3114F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F7012-3560-387C-AF34-29094AA4D3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C7451-BC01-4628-8A3E-480D26A6091D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A1D4-2CDE-D524-4DC4-883AF1A7E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AAE0A-4684-1696-FB2F-FBE59A20EE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BD6D8-2CEF-470B-95BA-060323C2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2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CC6F-881B-0F5F-5BF1-A175DBF43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320" y="365760"/>
            <a:ext cx="9384792" cy="2441447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Arial Black" panose="020B0A04020102020204" pitchFamily="34" charset="0"/>
              </a:rPr>
              <a:t>DEPARTMENT OF ELECTRONICS AND COMMUNICATION ENGINEERING</a:t>
            </a:r>
            <a:br>
              <a:rPr lang="en-US" sz="2800" b="1" dirty="0">
                <a:latin typeface="Arial Black" panose="020B0A04020102020204" pitchFamily="34" charset="0"/>
              </a:rPr>
            </a:br>
            <a:r>
              <a:rPr lang="en-US" sz="2800" b="1" dirty="0">
                <a:latin typeface="Arial Black" panose="020B0A04020102020204" pitchFamily="34" charset="0"/>
              </a:rPr>
              <a:t>PUNJABI UNIVERSITY, PATIALA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800" b="1" dirty="0">
                <a:latin typeface="Arial Black" panose="020B0A04020102020204" pitchFamily="34" charset="0"/>
              </a:rPr>
            </a:br>
            <a:r>
              <a:rPr lang="en-US" sz="2800" b="1" dirty="0">
                <a:latin typeface="Arial Black" panose="020B0A04020102020204" pitchFamily="34" charset="0"/>
              </a:rPr>
              <a:t>AI-GESTURE CONTROL</a:t>
            </a:r>
            <a:br>
              <a:rPr lang="en-US" sz="3200" b="1" dirty="0">
                <a:latin typeface="Arial Black" panose="020B0A04020102020204" pitchFamily="34" charset="0"/>
              </a:rPr>
            </a:br>
            <a:endParaRPr lang="en-US" sz="3200" b="1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236C7-A9E8-615E-949F-C3468694E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3208" y="3529584"/>
            <a:ext cx="5407152" cy="2523744"/>
          </a:xfrm>
        </p:spPr>
        <p:txBody>
          <a:bodyPr/>
          <a:lstStyle/>
          <a:p>
            <a:pPr algn="l"/>
            <a:r>
              <a:rPr lang="en-US" dirty="0">
                <a:latin typeface="Arial Black" panose="020B0A04020102020204" pitchFamily="34" charset="0"/>
              </a:rPr>
              <a:t>Himanshu Saini</a:t>
            </a:r>
          </a:p>
          <a:p>
            <a:pPr algn="l"/>
            <a:r>
              <a:rPr lang="en-US" dirty="0" err="1">
                <a:latin typeface="Arial Black" panose="020B0A04020102020204" pitchFamily="34" charset="0"/>
              </a:rPr>
              <a:t>B.Tech</a:t>
            </a:r>
            <a:r>
              <a:rPr lang="en-US" dirty="0">
                <a:latin typeface="Arial Black" panose="020B0A04020102020204" pitchFamily="34" charset="0"/>
              </a:rPr>
              <a:t> ECE 3</a:t>
            </a:r>
            <a:r>
              <a:rPr lang="en-US" baseline="30000" dirty="0">
                <a:latin typeface="Arial Black" panose="020B0A04020102020204" pitchFamily="34" charset="0"/>
              </a:rPr>
              <a:t>rd</a:t>
            </a:r>
            <a:r>
              <a:rPr lang="en-US" dirty="0">
                <a:latin typeface="Arial Black" panose="020B0A04020102020204" pitchFamily="34" charset="0"/>
              </a:rPr>
              <a:t> year (6</a:t>
            </a:r>
            <a:r>
              <a:rPr lang="en-US" baseline="30000" dirty="0">
                <a:latin typeface="Arial Black" panose="020B0A04020102020204" pitchFamily="34" charset="0"/>
              </a:rPr>
              <a:t>th</a:t>
            </a:r>
            <a:r>
              <a:rPr lang="en-US" dirty="0">
                <a:latin typeface="Arial Black" panose="020B0A04020102020204" pitchFamily="34" charset="0"/>
              </a:rPr>
              <a:t> Sem.)</a:t>
            </a:r>
          </a:p>
          <a:p>
            <a:pPr algn="l"/>
            <a:r>
              <a:rPr lang="en-US" dirty="0">
                <a:latin typeface="Arial Black" panose="020B0A04020102020204" pitchFamily="34" charset="0"/>
              </a:rPr>
              <a:t>12302052</a:t>
            </a:r>
          </a:p>
        </p:txBody>
      </p:sp>
    </p:spTree>
    <p:extLst>
      <p:ext uri="{BB962C8B-B14F-4D97-AF65-F5344CB8AC3E}">
        <p14:creationId xmlns:p14="http://schemas.microsoft.com/office/powerpoint/2010/main" val="1524507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6A49C-2EEE-18BD-8E78-E1C7C3649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A791B-E656-92F0-8A68-7B5552487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Gesture Control System allows users to control devices using hand gestures.</a:t>
            </a:r>
          </a:p>
          <a:p>
            <a:r>
              <a:rPr lang="en-US" dirty="0"/>
              <a:t>It uses computer vision and machine learning techniques to recognize gestures.</a:t>
            </a:r>
          </a:p>
          <a:p>
            <a:r>
              <a:rPr lang="en-US" dirty="0"/>
              <a:t>This system reduces physical contact with devices and enhances human–machine interaction.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192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1C20D-8C53-ABE7-801E-376C1948D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HARDWARE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773AA-273F-A7C9-CD0F-0D99AE072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432"/>
            <a:ext cx="6431280" cy="5006531"/>
          </a:xfrm>
        </p:spPr>
        <p:txBody>
          <a:bodyPr>
            <a:normAutofit/>
          </a:bodyPr>
          <a:lstStyle/>
          <a:p>
            <a:r>
              <a:rPr lang="en-US" sz="1800" b="1" dirty="0"/>
              <a:t>HARDWARE USED </a:t>
            </a:r>
          </a:p>
          <a:p>
            <a:r>
              <a:rPr lang="en-US" sz="1800" b="1" dirty="0"/>
              <a:t>Camera Module / Webcam:</a:t>
            </a:r>
            <a:r>
              <a:rPr lang="en-US" sz="1800" dirty="0"/>
              <a:t> Captures real-time hand gesture images for processing.</a:t>
            </a:r>
          </a:p>
          <a:p>
            <a:r>
              <a:rPr lang="en-US" sz="1800" b="1" dirty="0"/>
              <a:t>Raspberry Pi / Arduino:</a:t>
            </a:r>
            <a:r>
              <a:rPr lang="en-US" sz="1800" dirty="0"/>
              <a:t> Processes control signals and interfaces AI output with hardware.</a:t>
            </a:r>
          </a:p>
          <a:p>
            <a:r>
              <a:rPr lang="en-US" sz="1800" b="1" dirty="0"/>
              <a:t>Servo Motor:</a:t>
            </a:r>
            <a:r>
              <a:rPr lang="en-US" sz="1800" dirty="0"/>
              <a:t> Provides precise angular movement based on recognized gestures.</a:t>
            </a:r>
          </a:p>
          <a:p>
            <a:r>
              <a:rPr lang="en-US" sz="1800" b="1" dirty="0"/>
              <a:t>LED:</a:t>
            </a:r>
            <a:r>
              <a:rPr lang="en-US" sz="1800" dirty="0"/>
              <a:t> Indicates system response or gesture execution status.</a:t>
            </a:r>
          </a:p>
          <a:p>
            <a:r>
              <a:rPr lang="en-US" sz="1800" b="1" dirty="0"/>
              <a:t>Power Supply:</a:t>
            </a:r>
            <a:r>
              <a:rPr lang="en-US" sz="1800" dirty="0"/>
              <a:t> Provides required electrical power to all components.</a:t>
            </a:r>
          </a:p>
          <a:p>
            <a:r>
              <a:rPr lang="en-US" sz="1800" b="1" dirty="0"/>
              <a:t>Connecting Wires:</a:t>
            </a:r>
            <a:r>
              <a:rPr lang="en-US" sz="1800" dirty="0"/>
              <a:t> Enables electrical connections between hardware components.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93CB9D-52C5-052E-99B0-B2D5AD7D6FAC}"/>
              </a:ext>
            </a:extLst>
          </p:cNvPr>
          <p:cNvSpPr txBox="1"/>
          <p:nvPr/>
        </p:nvSpPr>
        <p:spPr>
          <a:xfrm>
            <a:off x="6949440" y="1325562"/>
            <a:ext cx="4910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5122" name="Picture 2" descr="Arduino Nano Original : Amazon.in ...">
            <a:extLst>
              <a:ext uri="{FF2B5EF4-FFF2-40B4-BE49-F238E27FC236}">
                <a16:creationId xmlns:a16="http://schemas.microsoft.com/office/drawing/2014/main" id="{094F2042-3DA8-FCF0-2517-87EFAE213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356" y="1051560"/>
            <a:ext cx="1952055" cy="18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ensors Modules Servo Motor | Sensors ...">
            <a:extLst>
              <a:ext uri="{FF2B5EF4-FFF2-40B4-BE49-F238E27FC236}">
                <a16:creationId xmlns:a16="http://schemas.microsoft.com/office/drawing/2014/main" id="{514940D0-A136-E637-0699-D89B22A0D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5294" y="2952943"/>
            <a:ext cx="2131595" cy="159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The Polarity Of LED Lights ...">
            <a:extLst>
              <a:ext uri="{FF2B5EF4-FFF2-40B4-BE49-F238E27FC236}">
                <a16:creationId xmlns:a16="http://schemas.microsoft.com/office/drawing/2014/main" id="{A0119601-9C75-CBC6-B845-43B195C79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368" y="4600316"/>
            <a:ext cx="2074926" cy="1393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379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C336-FBC8-5259-BDCE-844E820AE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17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SOFTWARE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9EE42-4805-B653-C531-01834FA5E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624"/>
            <a:ext cx="6550152" cy="5052251"/>
          </a:xfrm>
        </p:spPr>
        <p:txBody>
          <a:bodyPr/>
          <a:lstStyle/>
          <a:p>
            <a:r>
              <a:rPr lang="en-US" sz="2400" b="1" dirty="0"/>
              <a:t>SOFTWARE USED </a:t>
            </a:r>
          </a:p>
          <a:p>
            <a:pPr marL="285750" indent="-285750"/>
            <a:r>
              <a:rPr lang="en-US" sz="2400" b="1" dirty="0"/>
              <a:t>Python:</a:t>
            </a:r>
            <a:r>
              <a:rPr lang="en-US" sz="2400" dirty="0"/>
              <a:t> Core programming language for AI and gesture recognition logic.</a:t>
            </a:r>
          </a:p>
          <a:p>
            <a:pPr marL="285750" indent="-285750"/>
            <a:r>
              <a:rPr lang="en-US" sz="2400" b="1" dirty="0"/>
              <a:t>OpenCV:</a:t>
            </a:r>
            <a:r>
              <a:rPr lang="en-US" sz="2400" dirty="0"/>
              <a:t> Processes images and detects hand movements from camera input.</a:t>
            </a:r>
          </a:p>
          <a:p>
            <a:pPr marL="285750" indent="-285750"/>
            <a:r>
              <a:rPr lang="en-US" sz="2400" b="1" dirty="0" err="1"/>
              <a:t>MediaPipe</a:t>
            </a:r>
            <a:r>
              <a:rPr lang="en-US" sz="2400" b="1" dirty="0"/>
              <a:t> / TensorFlow:</a:t>
            </a:r>
            <a:r>
              <a:rPr lang="en-US" sz="2400" dirty="0"/>
              <a:t> Identifies and classifies hand gestures using AI models.</a:t>
            </a:r>
          </a:p>
          <a:p>
            <a:pPr marL="285750" indent="-285750"/>
            <a:r>
              <a:rPr lang="en-US" sz="2400" b="1" dirty="0"/>
              <a:t>Arduino IDE:</a:t>
            </a:r>
            <a:r>
              <a:rPr lang="en-US" sz="2400" dirty="0"/>
              <a:t> Programs the Arduino board to control hardware components.</a:t>
            </a:r>
          </a:p>
          <a:p>
            <a:pPr marL="285750" indent="-285750"/>
            <a:r>
              <a:rPr lang="en-US" sz="2400" b="1" dirty="0"/>
              <a:t>Raspberry Pi OS / Windows:</a:t>
            </a:r>
            <a:r>
              <a:rPr lang="en-US" sz="2400" dirty="0"/>
              <a:t> Operating system for running AI and control programs.</a:t>
            </a:r>
          </a:p>
          <a:p>
            <a:endParaRPr lang="en-US" dirty="0"/>
          </a:p>
        </p:txBody>
      </p:sp>
      <p:pic>
        <p:nvPicPr>
          <p:cNvPr id="1026" name="Picture 2" descr="OpenCV-Python Is Now An Official OpenCV ...">
            <a:extLst>
              <a:ext uri="{FF2B5EF4-FFF2-40B4-BE49-F238E27FC236}">
                <a16:creationId xmlns:a16="http://schemas.microsoft.com/office/drawing/2014/main" id="{5516108C-A140-52D1-A5E5-CECEBC4F9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977" y="1138872"/>
            <a:ext cx="3431960" cy="163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lectronJS, MediaPipe and Nut.js ...">
            <a:extLst>
              <a:ext uri="{FF2B5EF4-FFF2-40B4-BE49-F238E27FC236}">
                <a16:creationId xmlns:a16="http://schemas.microsoft.com/office/drawing/2014/main" id="{A45025DB-383E-0A89-FB4B-DC6BF9F99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2623" y="2677479"/>
            <a:ext cx="1833562" cy="183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wnload and install Arduino IDE ...">
            <a:extLst>
              <a:ext uri="{FF2B5EF4-FFF2-40B4-BE49-F238E27FC236}">
                <a16:creationId xmlns:a16="http://schemas.microsoft.com/office/drawing/2014/main" id="{154A24E5-D6E1-93C6-B396-D737E1866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2623" y="4423410"/>
            <a:ext cx="1987771" cy="164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147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972C-424C-0AC7-42B6-4AFCEBE6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BRIEF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3D88-CA29-A19E-7E4F-2E5664DC6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592"/>
            <a:ext cx="6477000" cy="4869371"/>
          </a:xfrm>
        </p:spPr>
        <p:txBody>
          <a:bodyPr/>
          <a:lstStyle/>
          <a:p>
            <a:r>
              <a:rPr lang="en-US" dirty="0"/>
              <a:t>The camera captures hand gestures and sends image data to the AI processing unit.</a:t>
            </a:r>
          </a:p>
          <a:p>
            <a:r>
              <a:rPr lang="en-US" dirty="0"/>
              <a:t>The AI model detects and classifies gestures.</a:t>
            </a:r>
          </a:p>
          <a:p>
            <a:r>
              <a:rPr lang="en-US" dirty="0"/>
              <a:t>Recognized gestures are converted into control commands.</a:t>
            </a:r>
          </a:p>
          <a:p>
            <a:r>
              <a:rPr lang="en-US" dirty="0"/>
              <a:t>These commands control motors, LEDs, or other devices through a microcontroller.</a:t>
            </a:r>
          </a:p>
          <a:p>
            <a:endParaRPr lang="en-US" dirty="0"/>
          </a:p>
        </p:txBody>
      </p:sp>
      <p:pic>
        <p:nvPicPr>
          <p:cNvPr id="4098" name="Picture 2" descr="Gesture Recognition - OpenCV Python ...">
            <a:extLst>
              <a:ext uri="{FF2B5EF4-FFF2-40B4-BE49-F238E27FC236}">
                <a16:creationId xmlns:a16="http://schemas.microsoft.com/office/drawing/2014/main" id="{AA468547-2CF5-F341-32D8-8B256B3A3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826" y="1815084"/>
            <a:ext cx="4743450" cy="2656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815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3263A-39D3-CC17-38A6-1BFEF2A7E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161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SCHEMATIC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B8B310-CE73-B0F2-6FD7-8CE8160D6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0784" y="1160781"/>
            <a:ext cx="8176448" cy="545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999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01805-C586-23EE-6B01-98D3742C4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92" y="282829"/>
            <a:ext cx="10515600" cy="95161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ADVANTAGES: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5C2E16-150F-87FB-194A-E9ECA53C6E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4193" y="1008615"/>
            <a:ext cx="1078382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Touchless Operation: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works without physical contact, making it hygienic and suitable for public and medical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Human Interaction: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 gestures are intuitive, allowing users to control devices easily without special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Accessibility: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Helpful for elderly and physically challenged users who may find traditional input devices difficult.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Mechanical Wear: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Eliminates buttons, switches, and keyboards, reducing maintenance and mechanical failure.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Wide Application Scope: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used in home automation, robotics, healthcare, gaming, and industrial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Flexible and Scalable: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gestures and devices can be added by updating the software.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User Experience: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modern, smart, and interactive way of controlling electronic devices.</a:t>
            </a:r>
          </a:p>
        </p:txBody>
      </p:sp>
    </p:spTree>
    <p:extLst>
      <p:ext uri="{BB962C8B-B14F-4D97-AF65-F5344CB8AC3E}">
        <p14:creationId xmlns:p14="http://schemas.microsoft.com/office/powerpoint/2010/main" val="1445349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BA1A2-8AE1-F502-38EA-C0578D317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758317"/>
            <a:ext cx="10515600" cy="988187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DISADVANTAGES: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135175-8F14-859B-317D-240CADE167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2208" y="2127410"/>
            <a:ext cx="991514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Lighting Dependency: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reduces in poor or uneven lighting conditions.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Processing Requirement: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gesture recognition needs powerful processors and increases system cost.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Gesture Accuracy: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Similar gestures may cause misinterpretation or incorrect actions.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Camera Dependency: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fails if the camera is blocked or malfunctioning.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Latency Issues: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Slight delays may occur due to image processing and AI computation.</a:t>
            </a:r>
          </a:p>
        </p:txBody>
      </p:sp>
    </p:spTree>
    <p:extLst>
      <p:ext uri="{BB962C8B-B14F-4D97-AF65-F5344CB8AC3E}">
        <p14:creationId xmlns:p14="http://schemas.microsoft.com/office/powerpoint/2010/main" val="4020905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B35B3-43B9-9133-0BEE-58F19E923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417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APPLICATIONS: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51E19-D409-EC6F-8649-CC9624402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304"/>
            <a:ext cx="10515600" cy="4887659"/>
          </a:xfrm>
        </p:spPr>
        <p:txBody>
          <a:bodyPr>
            <a:normAutofit fontScale="25000" lnSpcReduction="20000"/>
          </a:bodyPr>
          <a:lstStyle/>
          <a:p>
            <a:r>
              <a:rPr lang="en-US" sz="7200" b="1" dirty="0"/>
              <a:t>Home Automation:</a:t>
            </a:r>
            <a:br>
              <a:rPr lang="en-US" sz="7200" dirty="0"/>
            </a:br>
            <a:r>
              <a:rPr lang="en-US" sz="7200" dirty="0"/>
              <a:t>Used to control lights, fans, TV, and other appliances using hand gestures.</a:t>
            </a:r>
          </a:p>
          <a:p>
            <a:r>
              <a:rPr lang="en-US" sz="7200" b="1" dirty="0"/>
              <a:t>Robotics Control:</a:t>
            </a:r>
            <a:br>
              <a:rPr lang="en-US" sz="7200" dirty="0"/>
            </a:br>
            <a:r>
              <a:rPr lang="en-US" sz="7200" dirty="0"/>
              <a:t>Enables robots to move, pick objects, or perform tasks based on human gestures.</a:t>
            </a:r>
          </a:p>
          <a:p>
            <a:r>
              <a:rPr lang="en-US" sz="7200" b="1" dirty="0"/>
              <a:t>Healthcare Systems:</a:t>
            </a:r>
            <a:br>
              <a:rPr lang="en-US" sz="7200" dirty="0"/>
            </a:br>
            <a:r>
              <a:rPr lang="en-US" sz="7200" dirty="0"/>
              <a:t>Allows touchless operation of medical equipment, reducing the risk of infection.</a:t>
            </a:r>
          </a:p>
          <a:p>
            <a:r>
              <a:rPr lang="en-US" sz="7200" b="1" dirty="0"/>
              <a:t>Smart Wheelchairs:</a:t>
            </a:r>
            <a:br>
              <a:rPr lang="en-US" sz="7200" dirty="0"/>
            </a:br>
            <a:r>
              <a:rPr lang="en-US" sz="7200" dirty="0"/>
              <a:t>Helps physically challenged users control wheelchair movement through gestures.</a:t>
            </a:r>
          </a:p>
          <a:p>
            <a:r>
              <a:rPr lang="en-US" sz="7200" b="1" dirty="0"/>
              <a:t>Gaming and Virtual Reality:</a:t>
            </a:r>
            <a:br>
              <a:rPr lang="en-US" sz="7200" dirty="0"/>
            </a:br>
            <a:r>
              <a:rPr lang="en-US" sz="7200" dirty="0"/>
              <a:t>Provides immersive control in games and VR environments without controllers.</a:t>
            </a:r>
          </a:p>
          <a:p>
            <a:r>
              <a:rPr lang="en-US" sz="7200" b="1" dirty="0"/>
              <a:t>Industrial Automation:</a:t>
            </a:r>
            <a:br>
              <a:rPr lang="en-US" sz="7200" dirty="0"/>
            </a:br>
            <a:r>
              <a:rPr lang="en-US" sz="7200" dirty="0"/>
              <a:t>Used to control machines in hazardous environments where physical contact is unsafe.</a:t>
            </a:r>
          </a:p>
          <a:p>
            <a:r>
              <a:rPr lang="en-US" sz="7200" b="1" dirty="0"/>
              <a:t>Presentation and Media Control:</a:t>
            </a:r>
            <a:br>
              <a:rPr lang="en-US" sz="7200" dirty="0"/>
            </a:br>
            <a:r>
              <a:rPr lang="en-US" sz="7200" dirty="0"/>
              <a:t>Enables gesture-based control of slides, videos, and multimedia systems.</a:t>
            </a:r>
          </a:p>
          <a:p>
            <a:r>
              <a:rPr lang="en-US" sz="7200" b="1" dirty="0"/>
              <a:t>Automotive Systems:</a:t>
            </a:r>
            <a:br>
              <a:rPr lang="en-US" sz="7200" dirty="0"/>
            </a:br>
            <a:r>
              <a:rPr lang="en-US" sz="7200" dirty="0"/>
              <a:t>Used for controlling infotainment and dashboard functions without distraction.</a:t>
            </a:r>
          </a:p>
          <a:p>
            <a:r>
              <a:rPr lang="en-US" sz="7200" b="1" dirty="0"/>
              <a:t>Public Touchless Systems:</a:t>
            </a:r>
            <a:br>
              <a:rPr lang="en-US" sz="7200" dirty="0"/>
            </a:br>
            <a:r>
              <a:rPr lang="en-US" sz="7200" dirty="0"/>
              <a:t>Applied in kiosks, elevators, and ATMs to minimize physical contact.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508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26B85-5F8B-0961-FE3C-0D9B757F0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5619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C7F4F-4422-54AD-58A2-CED62CCD2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768"/>
            <a:ext cx="10515600" cy="4604195"/>
          </a:xfrm>
        </p:spPr>
        <p:txBody>
          <a:bodyPr/>
          <a:lstStyle/>
          <a:p>
            <a:r>
              <a:rPr lang="en-US" sz="3600" dirty="0"/>
              <a:t>AI Gesture Control System demonstrates the power of AI in human–machine interaction.</a:t>
            </a:r>
          </a:p>
          <a:p>
            <a:r>
              <a:rPr lang="en-US" sz="3600" dirty="0"/>
              <a:t>It provides a modern and intuitive way to control devices.</a:t>
            </a:r>
          </a:p>
          <a:p>
            <a:r>
              <a:rPr lang="en-US" sz="3600" dirty="0"/>
              <a:t>With improvements in AI models and hardware, gesture-based systems have a strong future.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91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CE59-07DA-55F8-BC40-3A57B8CFB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48" y="2477389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116ED-FC59-E07F-B257-CD8E7B3FB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38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681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Office Theme</vt:lpstr>
      <vt:lpstr>DEPARTMENT OF ELECTRONICS AND COMMUNICATION ENGINEERING PUNJABI UNIVERSITY, PATIALA  AI-GESTURE CONTROL </vt:lpstr>
      <vt:lpstr>Introduction</vt:lpstr>
      <vt:lpstr>HARDWARE USED:</vt:lpstr>
      <vt:lpstr>SOFTWARE USED:</vt:lpstr>
      <vt:lpstr>BRIEF DESCRIPTION</vt:lpstr>
      <vt:lpstr>SCHEMATIC DIAGRAM</vt:lpstr>
      <vt:lpstr>ADVANTAGES:</vt:lpstr>
      <vt:lpstr>DISADVANTAGES:</vt:lpstr>
      <vt:lpstr>APPLICATIONS: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 Saini</dc:creator>
  <cp:lastModifiedBy>Himanshu Saini</cp:lastModifiedBy>
  <cp:revision>1</cp:revision>
  <dcterms:created xsi:type="dcterms:W3CDTF">2026-02-04T16:30:14Z</dcterms:created>
  <dcterms:modified xsi:type="dcterms:W3CDTF">2026-02-04T17:02:28Z</dcterms:modified>
</cp:coreProperties>
</file>